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58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52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1828800" cy="18288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Pattern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Enrollment Mining · PageRank · BERT Semantic Similarity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9260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HarvardX &amp; MITx Coursera Dataset   •   Apriori · FP-Growth · BERT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Pattern &amp; Graph Analysis    |    Task 2: BERT Similarity    |    Recommended Learning Paths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225796"/>
            <a:ext cx="9144000" cy="210312"/>
          </a:xfrm>
          <a:prstGeom prst="rect">
            <a:avLst/>
          </a:prstGeom>
          <a:solidFill>
            <a:srgbClr val="021A2B"/>
          </a:solidFill>
          <a:ln w="12700">
            <a:solidFill>
              <a:srgbClr val="021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182880" y="524277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 |  LINK ANALYSIS  |  NLP / BERT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463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42416"/>
            <a:ext cx="2542032" cy="1670304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38100" dist="25400" dir="2700000" algn="bl" rotWithShape="0">
              <a:srgbClr val="888888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4300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91540"/>
            <a:ext cx="24323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641,138 enrollment records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476,532 unique students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unique courses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HarvardX + MITx on Coursera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598420" cy="1661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38100" dist="25400" dir="2700000" algn="bl" rotWithShape="0">
              <a:srgbClr val="888888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14300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Task 1: Pattern Mining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10128" y="898398"/>
            <a:ext cx="24323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Apriori Algorithm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FP-Growth Algorithm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PageRank / Link Analysis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Co-enrollment patterns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542032" cy="1661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38100" dist="25400" dir="2700000" algn="bl" rotWithShape="0">
              <a:srgbClr val="88888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14300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Task 2: BERT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04585" y="804672"/>
            <a:ext cx="24323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description embeddings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Cosine similarity matrix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course grouping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NLP-driven similarity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57500"/>
            <a:ext cx="2542032" cy="1889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38100" dist="25400" dir="2700000" algn="bl" rotWithShape="0">
              <a:srgbClr val="888888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" y="2942844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Output: Learning Paths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564130"/>
            <a:ext cx="24323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3-step learning paths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PageRank + Rules + BERT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 per path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804160"/>
            <a:ext cx="2598420" cy="194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38100" dist="25400" dir="2700000" algn="bl" rotWithShape="0">
              <a:srgbClr val="888888">
                <a:alpha val="7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83458" y="2942844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Visualizations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3458" y="2647188"/>
            <a:ext cx="24323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Enrollment counts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paths </a:t>
            </a:r>
            <a:r>
              <a:rPr lang="en-US" sz="950" dirty="0" err="1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Compostite</a:t>
            </a: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PageRank bar 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heatmap 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828544"/>
            <a:ext cx="2542032" cy="194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38100" dist="25400" dir="2700000" algn="bl" rotWithShape="0">
              <a:srgbClr val="888888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63056" y="2921508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Deliverables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01156" y="2712720"/>
            <a:ext cx="24323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output files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Jupyter notebooks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presentation</a:t>
            </a:r>
            <a:endParaRPr lang="en-US" sz="9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report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930" y="5943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Understanding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51510"/>
            <a:ext cx="2926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7660" y="804672"/>
            <a:ext cx="2560320" cy="100584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5280" y="83210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641,138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2900" y="13472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Enrollment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06524"/>
            <a:ext cx="2560320" cy="100584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660" y="203606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476,532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2517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 IDs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005328"/>
            <a:ext cx="2560320" cy="100584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464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7660" y="35768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Courses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079748"/>
            <a:ext cx="2560320" cy="100584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660" y="40797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0040" y="46390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Files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14173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Cleaned_Enrollments.csv — main enrollment file (course_id, userid_DI, course_name, course_description)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Course_Descriptions.csv — deduplicated course catalogue with full descriptions (used by BERT)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files are from HarvardX and MITx's publicly released Coursera MOOC dataset.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337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74904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Removed duplicate enrollments per user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Grouped enrollments by student ID to form transaction baskets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Deduplicated courses for BERT (13 unique courses)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TransactionEncoder to build boolean course matrix (476K × 13)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5603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483864" cy="2324100"/>
          </a:xfrm>
          <a:prstGeom prst="rect">
            <a:avLst/>
          </a:prstGeom>
          <a:solidFill>
            <a:srgbClr val="13203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928116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frequent itemsets found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association rules generated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0.01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min_confidence = 0.05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database multiple times.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effective for smaller datasets.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005840"/>
            <a:ext cx="3657600" cy="2324100"/>
          </a:xfrm>
          <a:prstGeom prst="rect">
            <a:avLst/>
          </a:prstGeom>
          <a:solidFill>
            <a:srgbClr val="13203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70832" y="9372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frequent itemsets found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association rules generated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0.01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min_confidence = 0.05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FP-Tree — only 2 scans needed.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&amp; memory-efficient.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" y="34671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3794760"/>
            <a:ext cx="1554480" cy="1280160"/>
          </a:xfrm>
          <a:prstGeom prst="rect">
            <a:avLst/>
          </a:prstGeom>
          <a:solidFill>
            <a:srgbClr val="1A2E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3858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13308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users who took both courses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93392" y="3794760"/>
            <a:ext cx="1554480" cy="1280160"/>
          </a:xfrm>
          <a:prstGeom prst="rect">
            <a:avLst/>
          </a:prstGeom>
          <a:solidFill>
            <a:srgbClr val="1A2E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6252" y="387324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29968" y="41071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| X) — likelihood of taking Y given 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12464" y="3797808"/>
            <a:ext cx="1554480" cy="1280160"/>
          </a:xfrm>
          <a:prstGeom prst="rect">
            <a:avLst/>
          </a:prstGeom>
          <a:solidFill>
            <a:srgbClr val="1A2E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2652" y="38450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35324" y="4130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Expected — values &gt;1 = positive association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4876" y="3794760"/>
            <a:ext cx="1554480" cy="1280160"/>
          </a:xfrm>
          <a:prstGeom prst="rect">
            <a:avLst/>
          </a:prstGeom>
          <a:solidFill>
            <a:srgbClr val="1A2E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0596" y="38663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77256" y="40919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rule is incorrect without 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57288" y="3797808"/>
            <a:ext cx="1554480" cy="1280160"/>
          </a:xfrm>
          <a:prstGeom prst="rect">
            <a:avLst/>
          </a:prstGeom>
          <a:solidFill>
            <a:srgbClr val="1A2E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7288" y="387324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Factor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57288" y="40919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 − Supp) / (1 − Supp) — rule reliability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Association Rules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228600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" y="585216"/>
            <a:ext cx="2231136" cy="265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50592" y="566928"/>
            <a:ext cx="228600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78024" y="585216"/>
            <a:ext cx="2231136" cy="265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36592" y="566928"/>
            <a:ext cx="658368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024" y="585216"/>
            <a:ext cx="603504" cy="265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0" y="566928"/>
            <a:ext cx="786384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585216"/>
            <a:ext cx="731520" cy="265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81344" y="566928"/>
            <a:ext cx="530352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585216"/>
            <a:ext cx="475488" cy="265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11696" y="566928"/>
            <a:ext cx="713232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585216"/>
            <a:ext cx="658368" cy="265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24928" y="566928"/>
            <a:ext cx="658368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585216"/>
            <a:ext cx="603504" cy="265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4592" y="95097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978408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Health &amp; Global Env Change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50592" y="95097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978408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Global Poverty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9509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97840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94960" y="950976"/>
            <a:ext cx="7863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978408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0.1912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81344" y="950976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97840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11696" y="950976"/>
            <a:ext cx="713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97840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24928" y="950976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97840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5,330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353312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13807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Global Poverty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50592" y="1353312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87168" y="13807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Health &amp; Global Env Change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36592" y="1353312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380744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94960" y="1353312"/>
            <a:ext cx="786384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1380744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0.1346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81344" y="1353312"/>
            <a:ext cx="53035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38074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11696" y="1353312"/>
            <a:ext cx="71323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138074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24928" y="1353312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61504" y="1380744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5,330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4592" y="175564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178308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and Magnetism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450592" y="175564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87168" y="178308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and Electronics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36592" y="1755648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1783080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94960" y="1755648"/>
            <a:ext cx="7863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31536" y="1783080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0.2916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81344" y="1755648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178308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11696" y="1755648"/>
            <a:ext cx="713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8272" y="178308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0.189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24928" y="1755648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61504" y="1783080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9,053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64592" y="2157984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" y="218541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and Electronics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450592" y="2157984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87168" y="218541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and Magnetism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36592" y="2157984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2185416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394960" y="2157984"/>
            <a:ext cx="786384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2185416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0.1499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81344" y="2157984"/>
            <a:ext cx="53035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218541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711696" y="2157984"/>
            <a:ext cx="71323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48272" y="218541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424928" y="2157984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61504" y="2185416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9,053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64592" y="256032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01168" y="258775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 + Circuits &amp; Electronics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450592" y="256032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87168" y="258775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CS &amp; Programming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736592" y="2560320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3168" y="2587752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0.0154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394960" y="2560320"/>
            <a:ext cx="7863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31536" y="2587752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0.5854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181344" y="2560320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17920" y="25877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2.29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711696" y="2560320"/>
            <a:ext cx="713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48272" y="258775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0.443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424928" y="2560320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61504" y="2587752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7,334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2962656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01168" y="2990088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450592" y="2962656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87168" y="2990088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 Numbers: Quant. Methods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736592" y="2962656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73168" y="299008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0.0166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394960" y="2962656"/>
            <a:ext cx="786384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31536" y="2990088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0.2632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181344" y="2962656"/>
            <a:ext cx="53035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17920" y="299008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711696" y="2962656"/>
            <a:ext cx="71323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48272" y="299008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0.162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424928" y="2962656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61504" y="299008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7,898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64592" y="336499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01168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 Numbers: Quant. Methods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450592" y="336499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487168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736592" y="3364992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73168" y="3392424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0.0166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394960" y="3364992"/>
            <a:ext cx="7863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31536" y="3392424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0.1379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181344" y="3364992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17920" y="339242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711696" y="3364992"/>
            <a:ext cx="713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748272" y="339242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0.080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424928" y="3364992"/>
            <a:ext cx="6583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461504" y="3392424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7,898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64592" y="3767328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01168" y="379476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Global Poverty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450592" y="3767328"/>
            <a:ext cx="2286000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87168" y="379476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 Numbers: Quant. Methods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4736592" y="3767328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773168" y="3794760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0.0128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5394960" y="3767328"/>
            <a:ext cx="786384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31536" y="3794760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0.2189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181344" y="3767328"/>
            <a:ext cx="53035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217920" y="379476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1.82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711696" y="3767328"/>
            <a:ext cx="713232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748272" y="379476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7424928" y="3767328"/>
            <a:ext cx="658368" cy="365760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461504" y="3794760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6,101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182880" y="486460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 in all rules confirms significant positive co-enrollment patterns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— Link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modelled as nodes; edges = co-enrollment strength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23207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03476" y="768096"/>
            <a:ext cx="2743200" cy="402336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97296" y="81991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813816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CS50: Introduction to Computer Science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46676" y="812153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261872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3898" y="1298448"/>
            <a:ext cx="2516476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84049" y="134416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1344168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Computer Science &amp; Programming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76488" y="13441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0.1565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792224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03476" y="1828800"/>
            <a:ext cx="1588676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88069" y="1882833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" y="187452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and Electronics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23716" y="1883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322576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1185" y="2350008"/>
            <a:ext cx="1463254" cy="40233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236940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2404872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 Numbers: Quantitative Methods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294" y="24140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852928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03476" y="2880360"/>
            <a:ext cx="1297633" cy="40233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069" y="29352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" y="2935224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and Magnetism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32673" y="29443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0.0807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383280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01185" y="3392424"/>
            <a:ext cx="1194723" cy="40233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97296" y="3431217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" y="3465576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Health and Global Environmental Change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9763" y="34747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0.0743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0190" y="3913632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01185" y="3933860"/>
            <a:ext cx="1011414" cy="40233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88069" y="3976255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" y="3995928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6454" y="400507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" y="4443984"/>
            <a:ext cx="8778240" cy="47548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01185" y="4489704"/>
            <a:ext cx="905288" cy="40233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88069" y="4517413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6032" y="452628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of Global Poverty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40328" y="45354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Graph: 13 nodes  •  78 edges  •  Fully connected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BERT Semantic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85216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2752"/>
            <a:ext cx="3840480" cy="2081022"/>
          </a:xfrm>
          <a:prstGeom prst="rect">
            <a:avLst/>
          </a:prstGeom>
          <a:solidFill>
            <a:srgbClr val="1E276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BERT?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45464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Representations from Transformers.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Wikipedia &amp; BookCorpus, BERT converts text into 768-dimensional semantic vectors.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TF-IDF, BERT understands context: "CS50" and "Introduction to Computer Science" get similar embeddings even without shared words.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1985" y="659770"/>
            <a:ext cx="36576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8230" y="587883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Descriptions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1337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96790" y="1544574"/>
            <a:ext cx="365760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10665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512 tokens)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251329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96790" y="2434019"/>
            <a:ext cx="365760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8230" y="2468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(768-dim)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3233737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96790" y="3448622"/>
            <a:ext cx="365760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1748" y="34472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1908" y="4195191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96790" y="4360164"/>
            <a:ext cx="3657600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8230" y="442645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0510" y="277787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Semantic Pairs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1465" y="3078480"/>
            <a:ext cx="3474720" cy="46710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700" y="2966847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CS50: Intro to CS  ↔  Intro CS &amp; Programming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53615" y="316306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 — Both cover CS fundamentals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93405" y="3597783"/>
            <a:ext cx="3472780" cy="443865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510" y="345390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 Numbers: Quant  ↔  Health in Numbers: Epidemiology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53615" y="3666969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0.178 — Shared biostatistics content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91465" y="4074795"/>
            <a:ext cx="3474720" cy="461391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" y="401955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 ↔  Challenges of Global Poverty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0" y="41803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0.072 — Shared social ethics themes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93406" y="4625816"/>
            <a:ext cx="3472780" cy="425006"/>
          </a:xfrm>
          <a:prstGeom prst="rect">
            <a:avLst/>
          </a:prstGeom>
          <a:solidFill>
            <a:srgbClr val="EAF4F7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&amp; Electronics  ↔  Electricity &amp; Magnetism</a:t>
            </a:r>
            <a:endParaRPr lang="en-US" sz="800" dirty="0"/>
          </a:p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4048" y="580644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8880" y="4693695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 — EE &amp; physics overlap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Learning Paths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= PageRank×0.5 + Association Confidence×0.3 + BERT Similarity×0.2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8778240" cy="603504"/>
          </a:xfrm>
          <a:prstGeom prst="rect">
            <a:avLst/>
          </a:prstGeom>
          <a:solidFill>
            <a:srgbClr val="13203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49808"/>
            <a:ext cx="502920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" y="786384"/>
            <a:ext cx="484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49808" y="7863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[STEM/CS]  Score: 0.687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CS50: Intro to CS  →  ② Intro to CS &amp; Programming  →  ③ Intro to Solid State Chemistry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444752"/>
            <a:ext cx="8778240" cy="603504"/>
          </a:xfrm>
          <a:prstGeom prst="rect">
            <a:avLst/>
          </a:prstGeom>
          <a:solidFill>
            <a:srgbClr val="132030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444752"/>
            <a:ext cx="502920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" y="1481328"/>
            <a:ext cx="484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49808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[STEM/CS]  Score: 0.618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" y="17190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Intro to CS &amp; Programming  →  ② CS50: Intro to CS  →  ③ Intro to Solid State Chemistry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139696"/>
            <a:ext cx="8778240" cy="603504"/>
          </a:xfrm>
          <a:prstGeom prst="rect">
            <a:avLst/>
          </a:prstGeom>
          <a:solidFill>
            <a:srgbClr val="13203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139696"/>
            <a:ext cx="502920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" y="2176272"/>
            <a:ext cx="484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9808" y="2176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[STEM/CS]  Score: 0.484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" y="24140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Circuits and Electronics  →  ② Intro to CS &amp; Programming  →  ③ CS50: Intro to CS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834640"/>
            <a:ext cx="8778240" cy="603504"/>
          </a:xfrm>
          <a:prstGeom prst="rect">
            <a:avLst/>
          </a:prstGeom>
          <a:solidFill>
            <a:srgbClr val="132030"/>
          </a:solidFill>
          <a:ln w="1524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834640"/>
            <a:ext cx="502920" cy="60350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" y="2871216"/>
            <a:ext cx="484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49808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[Health]  Score: 0.287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Health in Numbers: Quant.  →  ② Justice  →  ③ Challenges of Global Poverty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3529584"/>
            <a:ext cx="8778240" cy="603504"/>
          </a:xfrm>
          <a:prstGeom prst="rect">
            <a:avLst/>
          </a:prstGeom>
          <a:solidFill>
            <a:srgbClr val="132030"/>
          </a:solidFill>
          <a:ln w="15240">
            <a:solidFill>
              <a:srgbClr val="F9E79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3529584"/>
            <a:ext cx="502920" cy="603504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" y="3566160"/>
            <a:ext cx="484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49808" y="3566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[STEM]  Score: 0.293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" y="38039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Electricity and Magnetism  →  ② Circuits &amp; Electronics  →  ③ Elements of Structures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4224528"/>
            <a:ext cx="8778240" cy="603504"/>
          </a:xfrm>
          <a:prstGeom prst="rect">
            <a:avLst/>
          </a:prstGeom>
          <a:solidFill>
            <a:srgbClr val="132030"/>
          </a:solidFill>
          <a:ln w="15240">
            <a:solidFill>
              <a:srgbClr val="A7BE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24528"/>
            <a:ext cx="502920" cy="60350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" y="4261104"/>
            <a:ext cx="484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9808" y="4261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[Health]  Score: 0.266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9808" y="4498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Human Health &amp; Global Env.  →  ② Health in Numbers: Quant.  →  ③ Health in Numbers: Epidem.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2801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24912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AAAAAA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9728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CS50 is 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81328"/>
            <a:ext cx="164592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56716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PageRank (0.171). Acts as the central hub in the co-enrollment network — students who take CS50 are most likely to enroll in other courses.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60904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AAAAAA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09728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Strong CS Cluster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5848" y="1481328"/>
            <a:ext cx="16459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56271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&amp; Electronics ↔ Electricity &amp; Magnetism share Lift=2.30 — the highest lift in the dataset, indicating a near-perfect STEM co-enrollment pair.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50800" dist="25400" dir="2700000" algn="bl" rotWithShape="0">
              <a:srgbClr val="AAAAAA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109728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 Cluster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7648" y="1481328"/>
            <a:ext cx="16459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074420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 Numbers (Quant) links Justice, Global Poverty, and Global Env. Change — forming a cohesive social-health domain cluster in the network.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8892" y="2802081"/>
            <a:ext cx="2734056" cy="2205644"/>
          </a:xfrm>
          <a:prstGeom prst="rect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  <a:effectLst>
            <a:outerShdw blurRad="50800" dist="25400" dir="2700000" algn="bl" rotWithShape="0">
              <a:srgbClr val="AAAAAA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" y="288950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BERT Confirms Clusters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3279509"/>
            <a:ext cx="1645920" cy="36576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99232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similarity matrix independently recovers the same two domains (STEM/CS and Health/Social) found by association rules — validating both approaches.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798342"/>
            <a:ext cx="2679192" cy="2259814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50800" dist="25400" dir="2700000" algn="bl" rotWithShape="0">
              <a:srgbClr val="AAAAAA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4408" y="2830207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All Rules Lift &gt;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55848" y="3241687"/>
            <a:ext cx="164592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7268" y="2976511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association rule has Lift &gt; 1, confirming that all course co-enrollments are non-random. Students make deliberate multi-course learning decisions.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848356"/>
            <a:ext cx="2647188" cy="2159369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AAAAAA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2784" y="286394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Learning Path #1 is Strongest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27648" y="3255264"/>
            <a:ext cx="16459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3014472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 → Intro CS &amp; Programming → Solid State Chemistry scores 0.687 composite, reflecting the highest combined influence, confidence, and semantic coherence.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121" y="6373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0619" y="-42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4501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composite demand score: 0.6 × enrolment volume + 0.4 × PageRank centrality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725563"/>
            <a:ext cx="5212080" cy="438912"/>
          </a:xfrm>
          <a:prstGeom prst="rect">
            <a:avLst/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27432" y="7863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06008" y="805712"/>
            <a:ext cx="2331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2300" y="793867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9426" y="119890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06008" y="1220585"/>
            <a:ext cx="2331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2300" y="121892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536192"/>
            <a:ext cx="5212080" cy="438912"/>
          </a:xfrm>
          <a:prstGeom prst="rect">
            <a:avLst/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61848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10580" y="1625830"/>
            <a:ext cx="2331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8322" y="1606989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" y="208483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4915" y="2088573"/>
            <a:ext cx="2331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5215" y="205123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6660" y="2462646"/>
            <a:ext cx="5212080" cy="438912"/>
          </a:xfrm>
          <a:prstGeom prst="rect">
            <a:avLst/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493" y="2526861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6441" y="2544111"/>
            <a:ext cx="2331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1181" y="252776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1371" y="2919846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SQL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6441" y="2954967"/>
            <a:ext cx="2331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1181" y="293550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6660" y="3239261"/>
            <a:ext cx="5212080" cy="438912"/>
          </a:xfrm>
          <a:prstGeom prst="rect">
            <a:avLst/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353" y="332329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26602" y="3348643"/>
            <a:ext cx="2331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1181" y="3312761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0232" y="375305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6441" y="3741556"/>
            <a:ext cx="1837395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32295" y="37191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4493" y="4100773"/>
            <a:ext cx="5212080" cy="438912"/>
          </a:xfrm>
          <a:prstGeom prst="rect">
            <a:avLst/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0619" y="413963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36441" y="4175379"/>
            <a:ext cx="872063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138" y="4166235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6660" y="457414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V="1">
            <a:off x="2336441" y="4595899"/>
            <a:ext cx="872063" cy="25949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9315" y="45847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75321" y="492203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Demand Score (0 – 1.0)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3776" y="4990234"/>
            <a:ext cx="201168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953363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/ CS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706512" y="4997924"/>
            <a:ext cx="201168" cy="12801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83664" y="49727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Sciences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06440" y="146304"/>
            <a:ext cx="2672542" cy="1473015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BBBBBB">
                <a:alpha val="7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67009" y="141039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CS Dominates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20154" y="538041"/>
            <a:ext cx="1828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454845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the top 8 skills are Computer Science topics. Algorithms, Data Structures, Python, and Software Engineering all score 1.000 — the maximum possible demand score.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806440" y="1672243"/>
            <a:ext cx="2672542" cy="1566396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50800" dist="25400" dir="2700000" algn="bl" rotWithShape="0">
              <a:srgbClr val="BBBBBB">
                <a:alpha val="7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45282" y="165977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 Cluster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25312" y="2025257"/>
            <a:ext cx="18288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90418" y="2007246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Health, Epidemiology, Study Design &amp; Statistics form a secondary skills cluster at demand score 0.374, taught across two complementary Health in Numbers courses</a:t>
            </a: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06440" y="3320103"/>
            <a:ext cx="2672542" cy="1552818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BBBBBB">
                <a:alpha val="7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806440" y="3348643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Mirrors Domain Clusters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978929" y="3691959"/>
            <a:ext cx="1828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06440" y="3548426"/>
            <a:ext cx="2753592" cy="111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demand ranking directly mirrors the two learning communities found by association rules and BERT — giving a third, independent cross-validation of the STEM vs Health divide.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92140" y="491905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high_demand_skills.csv — 34 skills ranked, saved to results/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5192459"/>
            <a:ext cx="9144000" cy="210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-88245" y="5208339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Pattern Analysis  |  HarvardX &amp; MITx Coursera Dataset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294" y="1346662"/>
            <a:ext cx="3657600" cy="3657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3724" y="82296"/>
            <a:ext cx="3200400" cy="3200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6128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Apriori &amp; FP-Growth both identified 27 frequent itemsets and 27 rules from 476K student transactions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12976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PageRank revealed CS50 and Intro to CS &amp; Programming as the most influential gateway courses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277687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BERT independently validated the same domain clusters through semantic similarity of course descriptions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117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recommended learning paths generated using a composite score (PageRank + rules + BERT)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274383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Results support CS50 as the optimal starting point for STEM learners, with clear 3-step progressions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145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Produced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729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files  •  2 Jupyter notebooks  •  1 PowerPoint  •  1 Word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221639"/>
            <a:ext cx="9144000" cy="210312"/>
          </a:xfrm>
          <a:prstGeom prst="rect">
            <a:avLst/>
          </a:prstGeom>
          <a:solidFill>
            <a:srgbClr val="021A2B"/>
          </a:solidFill>
          <a:ln w="12700">
            <a:solidFill>
              <a:srgbClr val="021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-91440" y="520418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Pattern Analysis  |  HarvardX &amp; MITx Coursera Dataset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1426</Words>
  <Application>Microsoft Office PowerPoint</Application>
  <PresentationFormat>On-screen Show (16:9)</PresentationFormat>
  <Paragraphs>290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Yassin Ahmed</cp:lastModifiedBy>
  <cp:revision>14</cp:revision>
  <dcterms:created xsi:type="dcterms:W3CDTF">2026-05-04T11:12:13Z</dcterms:created>
  <dcterms:modified xsi:type="dcterms:W3CDTF">2026-05-05T21:55:48Z</dcterms:modified>
</cp:coreProperties>
</file>