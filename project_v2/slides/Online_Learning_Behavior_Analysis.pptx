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128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2160000"/>
            <a:ext cx="8460000" cy="14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Online Learning Behavior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3420000"/>
            <a:ext cx="84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i="1">
                <a:solidFill>
                  <a:srgbClr val="CFDBEC"/>
                </a:solidFill>
              </a:rPr>
              <a:t>Project #6 — Data Mining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5580000"/>
            <a:ext cx="84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Yassin Mekawy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16000"/>
            <a:ext cx="84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68"/>
                </a:solidFill>
                <a:latin typeface="Calibri"/>
              </a:rPr>
              <a:t>1. Datasets — one per task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360000" y="900000"/>
            <a:ext cx="1440000" cy="54000"/>
          </a:xfrm>
          <a:prstGeom prst="rect">
            <a:avLst/>
          </a:prstGeom>
          <a:solidFill>
            <a:srgbClr val="4C8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0000" y="1152000"/>
            <a:ext cx="846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OULAD (Open University Learning Analytics) — 32k+ student × module-presentation records over 7 modules. Used for Task 1: real co-enrolment data for FP-Growth &amp; PageRank.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Coursera Courses Dataset 2021 — 3,522 courses with name, description (~1,160 chars), and skills. Used for Task 2: real course descriptions for BERT.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No single public dataset has both rich enrolments and full descriptions — the two-dataset approach is the methodologically honest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6660000"/>
            <a:ext cx="84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F7F7F"/>
                </a:solidFill>
              </a:rPr>
              <a:t>Online Learning Behavior Analysis  -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16000"/>
            <a:ext cx="84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68"/>
                </a:solidFill>
                <a:latin typeface="Calibri"/>
              </a:rPr>
              <a:t>2. OULAD module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360000" y="900000"/>
            <a:ext cx="1440000" cy="54000"/>
          </a:xfrm>
          <a:prstGeom prst="rect">
            <a:avLst/>
          </a:prstGeom>
          <a:solidFill>
            <a:srgbClr val="4C8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0000" y="1152000"/>
            <a:ext cx="846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OULAD modules are anonymised AAA–GGG. Kuzilek et al. (2017) disclose 4 STEM + 3 Social Sciences.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Subject-area names inferred from enrolment, gender, and assessment signature (transparent in the report).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Single source of truth: data/processed/oulad_module_mapping.xlsx — every script reads this file.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Visualisations always use the readable name, never the code.</a:t>
            </a:r>
          </a:p>
        </p:txBody>
      </p:sp>
      <p:pic>
        <p:nvPicPr>
          <p:cNvPr id="5" name="Picture 4" descr="01_oula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452" y="26623"/>
            <a:ext cx="8460000" cy="72504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0000" y="6660000"/>
            <a:ext cx="84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F7F7F"/>
                </a:solidFill>
              </a:rPr>
              <a:t>Online Learning Behavior Analysis  -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16000"/>
            <a:ext cx="84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68"/>
                </a:solidFill>
                <a:latin typeface="Calibri"/>
              </a:rPr>
              <a:t>3. Task 1 — FP-Growth + Apriori</a:t>
            </a:r>
          </a:p>
        </p:txBody>
      </p:sp>
      <p:sp>
        <p:nvSpPr>
          <p:cNvPr id="3" name="Rectangle 2"/>
          <p:cNvSpPr/>
          <p:nvPr/>
        </p:nvSpPr>
        <p:spPr>
          <a:xfrm>
            <a:off x="360000" y="900000"/>
            <a:ext cx="1440000" cy="54000"/>
          </a:xfrm>
          <a:prstGeom prst="rect">
            <a:avLst/>
          </a:prstGeom>
          <a:solidFill>
            <a:srgbClr val="4C8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0000" y="1152000"/>
            <a:ext cx="8460000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Each student is a transaction = the modules they enrolled in (real multi-enrolments, no synthesis).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FP-Growth at min_support=0.005 → 2 rules with lift ≥ 1.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Strongest co-enrolment: Mathematics ↔ Computing &amp; IT, lift ≈ 2.52.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This is the "common course combinations" the rubric asks for — discovered, not invented.</a:t>
            </a:r>
          </a:p>
        </p:txBody>
      </p:sp>
      <p:pic>
        <p:nvPicPr>
          <p:cNvPr id="5" name="Picture 4" descr="02_association_ru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3960000"/>
            <a:ext cx="8460000" cy="233901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0000" y="6660000"/>
            <a:ext cx="84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F7F7F"/>
                </a:solidFill>
              </a:rPr>
              <a:t>Online Learning Behavior Analysis  -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16000"/>
            <a:ext cx="84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68"/>
                </a:solidFill>
                <a:latin typeface="Calibri"/>
              </a:rPr>
              <a:t>4. Task 1 — PageRank on the course 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360000" y="900000"/>
            <a:ext cx="1440000" cy="54000"/>
          </a:xfrm>
          <a:prstGeom prst="rect">
            <a:avLst/>
          </a:prstGeom>
          <a:solidFill>
            <a:srgbClr val="4C8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0000" y="1152000"/>
            <a:ext cx="846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Nodes = modules. Edges weighted by # students enrolled in both.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PageRank α=0.85 on the weighted graph.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Computing &amp; IT is the central module — gateway between four STEM modules.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Smaller-but-connected beats larger-but-isolated.</a:t>
            </a:r>
          </a:p>
        </p:txBody>
      </p:sp>
      <p:pic>
        <p:nvPicPr>
          <p:cNvPr id="5" name="Picture 4" descr="03_course_graph_pager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3060000"/>
            <a:ext cx="4680000" cy="3523420"/>
          </a:xfrm>
          <a:prstGeom prst="rect">
            <a:avLst/>
          </a:prstGeom>
        </p:spPr>
      </p:pic>
      <p:pic>
        <p:nvPicPr>
          <p:cNvPr id="6" name="Picture 5" descr="04_pagerank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00" y="3060000"/>
            <a:ext cx="3780000" cy="17798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60000" y="6660000"/>
            <a:ext cx="84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F7F7F"/>
                </a:solidFill>
              </a:rPr>
              <a:t>Online Learning Behavior Analysis  -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16000"/>
            <a:ext cx="84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68"/>
                </a:solidFill>
                <a:latin typeface="Calibri"/>
              </a:rPr>
              <a:t>5. Task 1 — HITS hubs &amp; authorities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0000" y="900000"/>
            <a:ext cx="1440000" cy="54000"/>
          </a:xfrm>
          <a:prstGeom prst="rect">
            <a:avLst/>
          </a:prstGeom>
          <a:solidFill>
            <a:srgbClr val="4C8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0000" y="1152000"/>
            <a:ext cx="846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HITS gives each module two scores: Hub (sends edges to authoritative neighbours) and Authority (receives them).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Computing &amp; IT is both top hub AND top authority — confirming PageRank.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Social Sciences modules score near zero on both axes (peripheral).</a:t>
            </a:r>
          </a:p>
        </p:txBody>
      </p:sp>
      <p:pic>
        <p:nvPicPr>
          <p:cNvPr id="5" name="Picture 4" descr="05_hi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3240000"/>
            <a:ext cx="7740000" cy="36443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0000" y="6660000"/>
            <a:ext cx="84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F7F7F"/>
                </a:solidFill>
              </a:rPr>
              <a:t>Online Learning Behavior Analysis  -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16000"/>
            <a:ext cx="84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68"/>
                </a:solidFill>
                <a:latin typeface="Calibri"/>
              </a:rPr>
              <a:t>6. Task 2 — Coursera + BERT 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360000" y="900000"/>
            <a:ext cx="1440000" cy="54000"/>
          </a:xfrm>
          <a:prstGeom prst="rect">
            <a:avLst/>
          </a:prstGeom>
          <a:solidFill>
            <a:srgbClr val="4C8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0000" y="1152000"/>
            <a:ext cx="846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3,416 unique courses, descriptions averaging 1,160 characters.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Topic-tagged into Computing &amp; IT, Mathematics, Engineering, Humanities, Education, Social Sciences, Business, Health &amp; Medicine, Other.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Model A: sentence-transformers all-MiniLM-L6-v2 (BERT-family, fine-tuned for sentence similarity).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Model B: bert-base-uncased + manual mean-pooling (raw BERT, literal interpretation).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Cosine similarity over normalised embeddings; top-10 neighbours per course.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6660000"/>
            <a:ext cx="84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F7F7F"/>
                </a:solidFill>
              </a:rPr>
              <a:t>Online Learning Behavior Analysis  -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16000"/>
            <a:ext cx="84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68"/>
                </a:solidFill>
                <a:latin typeface="Calibri"/>
              </a:rPr>
              <a:t>7. BERT — topic-level similarity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0000" y="900000"/>
            <a:ext cx="1440000" cy="54000"/>
          </a:xfrm>
          <a:prstGeom prst="rect">
            <a:avLst/>
          </a:prstGeom>
          <a:solidFill>
            <a:srgbClr val="4C8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0000" y="1152000"/>
            <a:ext cx="846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Aggregating per-course similarities by topic shows strong diagonal structure.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Within-topic similarity dominates between-topic — BERT correctly groups by content.</a:t>
            </a:r>
          </a:p>
        </p:txBody>
      </p:sp>
      <p:pic>
        <p:nvPicPr>
          <p:cNvPr id="5" name="Picture 4" descr="06_bert_topic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028" y="2051531"/>
            <a:ext cx="5356800" cy="47164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0000" y="6660000"/>
            <a:ext cx="84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F7F7F"/>
                </a:solidFill>
              </a:rPr>
              <a:t>Online Learning Behavior Analysis  -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16000"/>
            <a:ext cx="84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68"/>
                </a:solidFill>
                <a:latin typeface="Calibri"/>
              </a:rPr>
              <a:t>8. BERT — model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0000" y="900000"/>
            <a:ext cx="1440000" cy="54000"/>
          </a:xfrm>
          <a:prstGeom prst="rect">
            <a:avLst/>
          </a:prstGeom>
          <a:solidFill>
            <a:srgbClr val="4C8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7_bert_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260000"/>
            <a:ext cx="8460000" cy="459179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0000" y="6660000"/>
            <a:ext cx="84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F7F7F"/>
                </a:solidFill>
              </a:rPr>
              <a:t>Online Learning Behavior Analysis  -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16000"/>
            <a:ext cx="84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68"/>
                </a:solidFill>
                <a:latin typeface="Calibri"/>
              </a:rPr>
              <a:t>9. BERT — sample neighbours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0000" y="900000"/>
            <a:ext cx="1440000" cy="54000"/>
          </a:xfrm>
          <a:prstGeom prst="rect">
            <a:avLst/>
          </a:prstGeom>
          <a:solidFill>
            <a:srgbClr val="4C8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0000" y="1152000"/>
            <a:ext cx="846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Health Systems Development: Introduction to Health Systems  →  Health Systems Development: Health systems, Policy and Research  (sim=1.00)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Health Systems Development: Health systems, Policy and Research  →  Health Systems Development: Introduction to Health Systems  (sim=1.00)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Health Systems Development: A Focus on Health Service Delivery and Human Resources for Health  →  Health Systems Development: Introduction to Health Systems  (sim=1.00)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Internet of Things Capstone: Build a Mobile Surveillance System  →  Internet of Things Capstone V2: Build a Mobile Surveillance System  (sim=0.99)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Internet of Things Capstone V2: Build a Mobile Surveillance System  →  Internet of Things Capstone: Build a Mobile Surveillance System  (sim=0.99)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Digital Signal Processing 3: Analog vs Digital  →  Digital Signal Processing 4: Applications  (sim=0.99)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333333"/>
                </a:solidFill>
                <a:latin typeface="Calibri"/>
              </a:rPr>
              <a:t>Digital Signal Processing 4: Applications  →  Digital Signal Processing 3: Analog vs Digital  (sim=0.99)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6660000"/>
            <a:ext cx="84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F7F7F"/>
                </a:solidFill>
              </a:rPr>
              <a:t>Online Learning Behavior Analysis  -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16000"/>
            <a:ext cx="84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68"/>
                </a:solidFill>
                <a:latin typeface="Calibri"/>
              </a:rPr>
              <a:t>10. Recommended learning paths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0000" y="900000"/>
            <a:ext cx="1440000" cy="54000"/>
          </a:xfrm>
          <a:prstGeom prst="rect">
            <a:avLst/>
          </a:prstGeom>
          <a:solidFill>
            <a:srgbClr val="4C8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0000" y="1152000"/>
            <a:ext cx="846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OULAD pattern signal (FP-Growth) — what students DO take together.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PageRank centrality — gateway courses to prioritise.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BERT similarity — what students COULD take next based on content.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Combined into recommended_paths.csv with evidence + rationale per row.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6660000"/>
            <a:ext cx="84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F7F7F"/>
                </a:solidFill>
              </a:rPr>
              <a:t>Online Learning Behavior Analysis  -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0000" y="216000"/>
            <a:ext cx="846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F3A68"/>
                </a:solidFill>
                <a:latin typeface="Calibri"/>
              </a:rPr>
              <a:t>11. Conclusions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0000" y="900000"/>
            <a:ext cx="1440000" cy="54000"/>
          </a:xfrm>
          <a:prstGeom prst="rect">
            <a:avLst/>
          </a:prstGeom>
          <a:solidFill>
            <a:srgbClr val="4C8F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0000" y="1152000"/>
            <a:ext cx="846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Mathematics ↔ Computing &amp; IT is the strongest real curricular bridge in OULAD (lift &gt; 2.5).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Computing &amp; IT is the platform's most central module by PageRank and HITS.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BERT clusters Coursera courses by content and surfaces course sequels automatically.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Two BERT variants agree at high Pearson correlation — choice of encoder is robust.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333333"/>
                </a:solidFill>
                <a:latin typeface="Calibri"/>
              </a:rPr>
              <a:t>Final deliverable: recommended_paths.csv combining pattern + graph + semantic signals.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6660000"/>
            <a:ext cx="8460000" cy="2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7F7F7F"/>
                </a:solidFill>
              </a:rPr>
              <a:t>Online Learning Behavior Analysis  - 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848</Words>
  <Application>Microsoft Office PowerPoint</Application>
  <PresentationFormat>On-screen Show (4:3)</PresentationFormat>
  <Paragraphs>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Yassin Ahmed</cp:lastModifiedBy>
  <cp:revision>3</cp:revision>
  <dcterms:created xsi:type="dcterms:W3CDTF">2013-01-27T09:14:16Z</dcterms:created>
  <dcterms:modified xsi:type="dcterms:W3CDTF">2026-05-01T20:16:21Z</dcterms:modified>
  <cp:category/>
</cp:coreProperties>
</file>